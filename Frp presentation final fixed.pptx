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3"/>
  </p:notesMasterIdLst>
  <p:sldIdLst>
    <p:sldId id="256" r:id="rId7"/>
    <p:sldId id="257" r:id="rId8"/>
    <p:sldId id="275" r:id="rId9"/>
    <p:sldId id="258" r:id="rId10"/>
    <p:sldId id="265" r:id="rId11"/>
    <p:sldId id="259" r:id="rId12"/>
    <p:sldId id="267" r:id="rId13"/>
    <p:sldId id="273" r:id="rId14"/>
    <p:sldId id="274" r:id="rId15"/>
    <p:sldId id="276" r:id="rId16"/>
    <p:sldId id="277" r:id="rId17"/>
    <p:sldId id="269" r:id="rId18"/>
    <p:sldId id="270" r:id="rId19"/>
    <p:sldId id="271" r:id="rId20"/>
    <p:sldId id="264" r:id="rId21"/>
    <p:sldId id="263" r:id="rId22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</a:p>
          <a:p>
            <a:pPr>
              <a:lnSpc>
                <a:spcPct val="100000"/>
              </a:lnSpc>
            </a:pPr>
            <a:br>
              <a:rPr lang="en-US" sz="1100" dirty="0">
                <a:latin typeface="Bebas Neue"/>
              </a:rPr>
            </a:br>
            <a:r>
              <a:rPr lang="en-US" sz="1100" dirty="0">
                <a:latin typeface="Bebas Neue"/>
              </a:rPr>
              <a:t>			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[</a:t>
            </a: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Placement pro +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933311"/>
            <a:ext cx="5397524" cy="435013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Venkatesh Dalei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8612" y="3344587"/>
            <a:ext cx="3528392" cy="2245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</a:t>
            </a:r>
            <a:r>
              <a:rPr lang="en-IN" sz="1400" b="1" spc="-1" dirty="0">
                <a:solidFill>
                  <a:srgbClr val="0070C0"/>
                </a:solidFill>
                <a:latin typeface="Gill Sans MT"/>
              </a:rPr>
              <a:t> </a:t>
            </a: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: 10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/>
              </a:rPr>
              <a:t>Name of the Student(s) with Regd. No :</a:t>
            </a: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Aditya Subhaditya (2241019558)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Sudhanshu Sinha(2241019539)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Vishal Kumar Singh(2241019527)</a:t>
            </a:r>
          </a:p>
          <a:p>
            <a:pPr>
              <a:lnSpc>
                <a:spcPct val="100000"/>
              </a:lnSpc>
            </a:pPr>
            <a:r>
              <a:rPr lang="en-US" sz="1400" b="0" strike="noStrike" spc="-1" dirty="0" err="1">
                <a:latin typeface="Arial"/>
              </a:rPr>
              <a:t>Khirod</a:t>
            </a:r>
            <a:r>
              <a:rPr lang="en-US" sz="1400" b="0" strike="noStrike" spc="-1" dirty="0">
                <a:latin typeface="Arial"/>
              </a:rPr>
              <a:t> Kumar Patro</a:t>
            </a:r>
            <a:r>
              <a:rPr lang="en-US" sz="1400" b="0" strike="noStrike" spc="-1">
                <a:latin typeface="Arial"/>
              </a:rPr>
              <a:t>(2241016312)</a:t>
            </a: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3534" y="1109434"/>
            <a:ext cx="2768400" cy="1117500"/>
          </a:xfrm>
        </p:spPr>
        <p:txBody>
          <a:bodyPr/>
          <a:lstStyle/>
          <a:p>
            <a:pPr>
              <a:defRPr sz="3200"/>
            </a:pPr>
            <a:r>
              <a:rPr dirty="0"/>
              <a:t>Introduction &amp; Research Motivation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3187800" y="0"/>
            <a:ext cx="2608336" cy="1059582"/>
          </a:xfrm>
        </p:spPr>
        <p:txBody>
          <a:bodyPr/>
          <a:lstStyle/>
          <a:p>
            <a:r>
              <a:rPr lang="en-IN" sz="2000" dirty="0"/>
              <a:t>Let’s Begin</a:t>
            </a:r>
            <a:endParaRPr sz="2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9512" y="2427734"/>
            <a:ext cx="8856984" cy="2448272"/>
          </a:xfrm>
        </p:spPr>
        <p:txBody>
          <a:bodyPr wrap="square">
            <a:normAutofit fontScale="92500" lnSpcReduction="10000"/>
          </a:bodyPr>
          <a:lstStyle/>
          <a:p>
            <a:pPr>
              <a:defRPr sz="1600"/>
            </a:pPr>
            <a:r>
              <a:rPr b="1" u="sng" dirty="0"/>
              <a:t>Project Overview:</a:t>
            </a:r>
          </a:p>
          <a:p>
            <a:pPr>
              <a:defRPr sz="1600"/>
            </a:pPr>
            <a:r>
              <a:rPr dirty="0"/>
              <a:t> • </a:t>
            </a:r>
            <a:r>
              <a:rPr b="1" dirty="0"/>
              <a:t>Placement</a:t>
            </a:r>
            <a:r>
              <a:rPr lang="en-IN" b="1" dirty="0"/>
              <a:t>-Pro</a:t>
            </a:r>
            <a:r>
              <a:rPr b="1" dirty="0"/>
              <a:t> </a:t>
            </a:r>
            <a:r>
              <a:rPr dirty="0"/>
              <a:t>is a Next-Generation AI-powered Placement Preparation System.</a:t>
            </a:r>
          </a:p>
          <a:p>
            <a:pPr>
              <a:defRPr sz="1600"/>
            </a:pPr>
            <a:r>
              <a:rPr dirty="0"/>
              <a:t> • Utilizes a Neuro-Symbolic AI architecture to map student skills dynamically.</a:t>
            </a:r>
          </a:p>
          <a:p>
            <a:pPr>
              <a:defRPr sz="1600"/>
            </a:pPr>
            <a:r>
              <a:rPr dirty="0"/>
              <a:t> • Predicts placement probabilities and uncovers structural knowledge gaps.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b="1" u="sng" dirty="0"/>
              <a:t>Why This Research Idea?</a:t>
            </a:r>
          </a:p>
          <a:p>
            <a:pPr>
              <a:defRPr sz="1600"/>
            </a:pPr>
            <a:r>
              <a:rPr dirty="0"/>
              <a:t> • Technical education suffers from heavy academic-industry misalignment.</a:t>
            </a:r>
          </a:p>
          <a:p>
            <a:pPr>
              <a:defRPr sz="1600"/>
            </a:pPr>
            <a:r>
              <a:rPr dirty="0"/>
              <a:t> • Students often graduate lacking the agile skills strictly required by top firms.</a:t>
            </a:r>
          </a:p>
          <a:p>
            <a:pPr>
              <a:defRPr sz="1600"/>
            </a:pPr>
            <a:r>
              <a:rPr dirty="0"/>
              <a:t> • Our Solution: Mathematically bridge the gap by generating personalized 12-week</a:t>
            </a:r>
          </a:p>
          <a:p>
            <a:pPr>
              <a:defRPr sz="1600"/>
            </a:pPr>
            <a:r>
              <a:rPr dirty="0"/>
              <a:t>   learning roadmaps, replacing generic and outdated educational </a:t>
            </a:r>
            <a:r>
              <a:rPr dirty="0" err="1"/>
              <a:t>syllab</a:t>
            </a:r>
            <a:r>
              <a:rPr lang="en-IN" dirty="0"/>
              <a:t>us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Generic Preparation</a:t>
            </a:r>
            <a:r>
              <a:rPr lang="en-US" sz="1600" dirty="0"/>
              <a:t>: Existing platforms offer one-size-fits-all roadmaps, ignoring base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Lack of Logical Progression in AI:</a:t>
            </a:r>
            <a:r>
              <a:rPr lang="en-US" sz="1600" dirty="0"/>
              <a:t> Standard LLMs hallucinate learning paths, failing to enforce prerequisites (e.g., trying to teach ML before Python basics).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Siloed Systems:</a:t>
            </a:r>
            <a:r>
              <a:rPr lang="en-US" sz="1600" dirty="0"/>
              <a:t> A fundamental disconnect exists between ML-based prediction models and actionable GenAI curriculums.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Limited Feedback Loops</a:t>
            </a:r>
            <a:r>
              <a:rPr lang="en-US" sz="1600" dirty="0"/>
              <a:t>: Most platforms lack continuous assessment and adaptive feedback mechanisms, resulting in static learning paths that don’t evolve based on a learner’s progress, mistakes, or changing goals.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Personalized Learning</a:t>
            </a:r>
            <a:r>
              <a:rPr lang="en-US" sz="1600" dirty="0"/>
              <a:t>: Empower students with tailored 12-week roadmaps that react dynamically to their current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Precision over Hallucination</a:t>
            </a:r>
            <a:r>
              <a:rPr lang="en-US" sz="1600" dirty="0"/>
              <a:t>: A Neuro-Symbolic approach guarantees logically sound, executable study plans without AI hallucination.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Holistic Solution</a:t>
            </a:r>
            <a:r>
              <a:rPr lang="en-US" sz="1600" dirty="0"/>
              <a:t>: Bridge statistical prediction (likelihood of placement) with intelligent recommendation (how to improve).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Continuous Adaptation:</a:t>
            </a:r>
            <a:r>
              <a:rPr lang="en-US" sz="1600" dirty="0"/>
              <a:t> Integrate real-time performance tracking and feedback loops to constantly refine the learning path, ensuring it evolves with the student’s progress, strengths, and weaknesses. 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538350" y="1076610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67707"/>
              </p:ext>
            </p:extLst>
          </p:nvPr>
        </p:nvGraphicFramePr>
        <p:xfrm>
          <a:off x="538350" y="862772"/>
          <a:ext cx="7632848" cy="3909933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/>
                        <a:t> Research </a:t>
                      </a:r>
                      <a:r>
                        <a:rPr lang="en-IN" sz="1100" b="1" dirty="0"/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Example 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Smith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 Extraction: Ensemble Learning Classification: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UCI Repository,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Accuracy: 92–95%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0.93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High accuracy with structured data; stable and reliable performance but limited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Kumar &amp; Patel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Feature Extraction: CNN (Deep Learning)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Classification: Convolutional Neural Network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dirty="0"/>
                        <a:t>Custom Dataset, TensorFlow/</a:t>
                      </a:r>
                      <a:r>
                        <a:rPr lang="en-IN" sz="1000" dirty="0" err="1"/>
                        <a:t>Keras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Accuracy: 90–93%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0.89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0.88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Superior performance with automatic feature extraction; computationally expensive and requires large data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45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29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The Gap</a:t>
            </a:r>
            <a:r>
              <a:rPr lang="en-IN" dirty="0"/>
              <a:t>: Current EdTech AI relies either entirely on rigid structural graphs or entirely on probabilistic language models.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Our Improvement</a:t>
            </a:r>
            <a:r>
              <a:rPr lang="en-IN" dirty="0"/>
              <a:t>: Bridging the gap using a customized Neuro-Symbolic architecture.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Neural Component (Semantic Understanding</a:t>
            </a:r>
            <a:r>
              <a:rPr lang="en-IN" dirty="0"/>
              <a:t>): Using sentence embeddings (</a:t>
            </a:r>
            <a:r>
              <a:rPr lang="en-IN" dirty="0" err="1"/>
              <a:t>SentenceTransformers</a:t>
            </a:r>
            <a:r>
              <a:rPr lang="en-IN" dirty="0"/>
              <a:t>) to semantically match a student's unstructured skills to the backend database.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Symbolic Component (Logical Constraints): </a:t>
            </a:r>
            <a:r>
              <a:rPr lang="en-IN" dirty="0"/>
              <a:t>Navigating a weighted Knowledge Graph (</a:t>
            </a:r>
            <a:r>
              <a:rPr lang="en-IN" dirty="0" err="1"/>
              <a:t>NetworkX</a:t>
            </a:r>
            <a:r>
              <a:rPr lang="en-IN" dirty="0"/>
              <a:t>) to enforce strict prerequisite traversal for the generated syllabus.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Basic architecture for our  Client-Side Rendered (CSR) application</a:t>
            </a:r>
            <a:endParaRPr b="1"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286000" cy="1097280"/>
          </a:xfrm>
          <a:prstGeom prst="roundRect">
            <a:avLst/>
          </a:prstGeom>
          <a:solidFill>
            <a:srgbClr val="0307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Frontend (React / Vite)</a:t>
            </a:r>
          </a:p>
          <a:p>
            <a:pPr>
              <a:defRPr sz="1400"/>
            </a:pPr>
            <a:r>
              <a:t>Netlify Global Edge CDN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2286000" cy="1097280"/>
          </a:xfrm>
          <a:prstGeom prst="roundRect">
            <a:avLst/>
          </a:prstGeom>
          <a:solidFill>
            <a:srgbClr val="184C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Backend API (Flask)</a:t>
            </a:r>
          </a:p>
          <a:p>
            <a:pPr>
              <a:defRPr sz="1400"/>
            </a:pPr>
            <a:r>
              <a:t>Hugging Face 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2286000" cy="1097280"/>
          </a:xfrm>
          <a:prstGeom prst="roundRect">
            <a:avLst/>
          </a:prstGeom>
          <a:solidFill>
            <a:srgbClr val="B537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Neuro-Symbolic Engine</a:t>
            </a:r>
          </a:p>
          <a:p>
            <a:pPr>
              <a:defRPr sz="1400"/>
            </a:pPr>
            <a:r>
              <a:t>Vector Embeddings +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00400"/>
            <a:ext cx="2286000" cy="1097280"/>
          </a:xfrm>
          <a:prstGeom prst="roundRect">
            <a:avLst/>
          </a:prstGeom>
          <a:solidFill>
            <a:srgbClr val="2CF1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Database Config</a:t>
            </a:r>
          </a:p>
          <a:p>
            <a:pPr>
              <a:defRPr sz="1400"/>
            </a:pPr>
            <a:r>
              <a:t>SQLite + SQLAlchemy ORM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2606040"/>
            <a:ext cx="914400" cy="45720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943600" y="1920240"/>
            <a:ext cx="914400" cy="45720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943600" y="3200400"/>
            <a:ext cx="914400" cy="45720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0939" y="1092546"/>
            <a:ext cx="2768450" cy="1008699"/>
          </a:xfrm>
        </p:spPr>
        <p:txBody>
          <a:bodyPr/>
          <a:lstStyle/>
          <a:p>
            <a:pPr>
              <a:defRPr sz="3200"/>
            </a:pPr>
            <a:r>
              <a:rPr dirty="0"/>
              <a:t>Technology Stack Details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2843808" y="0"/>
            <a:ext cx="3456384" cy="1079400"/>
          </a:xfrm>
        </p:spPr>
        <p:txBody>
          <a:bodyPr/>
          <a:lstStyle/>
          <a:p>
            <a:r>
              <a:rPr lang="en-IN" sz="2000" dirty="0"/>
              <a:t>Small Overview</a:t>
            </a:r>
            <a:br>
              <a:rPr lang="en-IN" sz="2000" dirty="0"/>
            </a:br>
            <a:r>
              <a:rPr lang="en-IN" sz="2000" dirty="0"/>
              <a:t>(Also includes future possible actions)</a:t>
            </a:r>
            <a:endParaRPr sz="2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9512" y="2283718"/>
            <a:ext cx="8640960" cy="2520280"/>
          </a:xfrm>
        </p:spPr>
        <p:txBody>
          <a:bodyPr wrap="square">
            <a:normAutofit fontScale="85000" lnSpcReduction="20000"/>
          </a:bodyPr>
          <a:lstStyle/>
          <a:p>
            <a:pPr>
              <a:defRPr sz="1600"/>
            </a:pPr>
            <a:r>
              <a:rPr b="1" u="sng" dirty="0"/>
              <a:t>Frontend Architecture (Client-Side Rendering):</a:t>
            </a:r>
          </a:p>
          <a:p>
            <a:pPr>
              <a:defRPr sz="1600"/>
            </a:pPr>
            <a:r>
              <a:rPr dirty="0"/>
              <a:t> • Core: React 19 + TypeScript (via Vite </a:t>
            </a:r>
            <a:r>
              <a:rPr dirty="0" err="1"/>
              <a:t>esbuild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 • Aesthetics: Tailwind CSS + Framer Motion (Declarative physics)</a:t>
            </a:r>
          </a:p>
          <a:p>
            <a:pPr>
              <a:defRPr sz="1600"/>
            </a:pPr>
            <a:r>
              <a:rPr dirty="0"/>
              <a:t> • Visualizations: Recharts (Dynamic SVG charts)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b="1" u="sng" dirty="0"/>
              <a:t>Backend Architecture (Neuro-Symbolic Engine):</a:t>
            </a:r>
          </a:p>
          <a:p>
            <a:pPr>
              <a:defRPr sz="1600"/>
            </a:pPr>
            <a:r>
              <a:rPr dirty="0"/>
              <a:t> • Framework: Python Flask (RESTful API ecosystem)</a:t>
            </a:r>
          </a:p>
          <a:p>
            <a:pPr>
              <a:defRPr sz="1600"/>
            </a:pPr>
            <a:r>
              <a:rPr dirty="0"/>
              <a:t> • Semantic AI: HF sentence-transformers (Vector extraction)</a:t>
            </a:r>
          </a:p>
          <a:p>
            <a:pPr>
              <a:defRPr sz="1600"/>
            </a:pPr>
            <a:r>
              <a:rPr dirty="0"/>
              <a:t> • Logic AI: </a:t>
            </a:r>
            <a:r>
              <a:rPr dirty="0" err="1"/>
              <a:t>NetworkX</a:t>
            </a:r>
            <a:r>
              <a:rPr dirty="0"/>
              <a:t> (Directed Acyclic Graph routing)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b="1" u="sng" dirty="0"/>
              <a:t>Persistence &amp; Cloud Infrastructure:</a:t>
            </a:r>
          </a:p>
          <a:p>
            <a:pPr>
              <a:defRPr sz="1600"/>
            </a:pPr>
            <a:r>
              <a:rPr dirty="0"/>
              <a:t> • Database: </a:t>
            </a:r>
            <a:r>
              <a:rPr dirty="0" err="1"/>
              <a:t>SQLAlchemy</a:t>
            </a:r>
            <a:r>
              <a:rPr dirty="0"/>
              <a:t> Object-Relational Mapper (SQLite)</a:t>
            </a:r>
          </a:p>
          <a:p>
            <a:pPr>
              <a:defRPr sz="1600"/>
            </a:pPr>
            <a:r>
              <a:rPr dirty="0"/>
              <a:t> • Deployment: Netlify CDN (Frontend) &amp; HF Spaces Docker (Backend)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Datasets: Simulated historical student profiles (for ML scoring) and a custom Directed Acyclic Graph (DAG) for the CS Curriculum.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Frontend Application: Built with React, TypeScript, and Vite for performance.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Backend Architecture: </a:t>
            </a:r>
            <a:r>
              <a:rPr lang="en-IN" sz="1600" dirty="0" err="1"/>
              <a:t>FastAPI</a:t>
            </a:r>
            <a:r>
              <a:rPr lang="en-IN" sz="1600" dirty="0"/>
              <a:t> (Python) for rapid ML inference and routing.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AI/ML Stack: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SentenceTransformers</a:t>
            </a:r>
            <a:r>
              <a:rPr lang="en-IN" sz="1600" dirty="0"/>
              <a:t> (NLP Vectors)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NetworkX</a:t>
            </a:r>
            <a:r>
              <a:rPr lang="en-IN" sz="1600" dirty="0"/>
              <a:t> (Graph Theory)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Scikit-Learn (Predictive ML)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System Skeleton: Initialized the full-stack architecture with functional React-</a:t>
            </a:r>
            <a:r>
              <a:rPr lang="en-US" dirty="0" err="1"/>
              <a:t>FastAPI</a:t>
            </a:r>
            <a:r>
              <a:rPr lang="en-US" dirty="0"/>
              <a:t> communication.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Predictive Engine: Successfully deployed the ML-driven placement prediction component calculating readiness percentiles.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Neuro-Symbolic Engine: Completely overhauled the backend API to parse skills through our custom semantic knowledge graph.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Frontend Integration: Designed a dynamic, interactive dashboard to display these roadmaps continuously.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Advanced State Tracking: Implement granular database tracking for students' weekly progress checks.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Dynamic Re-Routing: Develop the logic to auto-regenerate the remaining weeks of the roadmap if a student fails a milestone quiz.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Interactive Graph Visualizations: Render the prerequisite graph visually on the frontend.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Production Deployment: Containerize the </a:t>
            </a:r>
            <a:r>
              <a:rPr lang="en-US" dirty="0" err="1"/>
              <a:t>FastAPI</a:t>
            </a:r>
            <a:r>
              <a:rPr lang="en-US" dirty="0"/>
              <a:t> backend and deploy via standard cloud services.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19344"/>
              </p:ext>
            </p:extLst>
          </p:nvPr>
        </p:nvGraphicFramePr>
        <p:xfrm>
          <a:off x="683568" y="987574"/>
          <a:ext cx="7920880" cy="358363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 Sharma, R. Kumar, and S. Das, “Deep learning-based brain 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detection using MRI images,”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10, pp. 12345–12356,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P. Singh and M. Gupta, “Machine learning techniques for disease prediction,”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International Journal of Medical Informatics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134, pp. 104–112, 2021.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Roy et al., “A hybrid CNN-LSTM model for medical image classification,” </a:t>
                      </a:r>
                      <a:r>
                        <a:rPr lang="en-IN" sz="14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Transactions on Medical Imaging</a:t>
                      </a: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39, no. 5, pp. 1400–1410, 2020.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K. Patel and N. Shah, “Transfer learning approach for image classification using VGG16,”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167, pp. 197–206,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R. Das and A. Mishra, “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-based model for disease detection,”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Expert Systems with Applications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198, pp. 116–130, 2023.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674</TotalTime>
  <Words>1299</Words>
  <Application>Microsoft Office PowerPoint</Application>
  <PresentationFormat>On-screen Show (16:9)</PresentationFormat>
  <Paragraphs>189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39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Introduction &amp; Research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Architecture Flow</vt:lpstr>
      <vt:lpstr>Technology Stack Details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Sudhanshu Sinha</cp:lastModifiedBy>
  <cp:revision>67</cp:revision>
  <dcterms:created xsi:type="dcterms:W3CDTF">2023-04-24T05:50:18Z</dcterms:created>
  <dcterms:modified xsi:type="dcterms:W3CDTF">2026-04-10T08:59:56Z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